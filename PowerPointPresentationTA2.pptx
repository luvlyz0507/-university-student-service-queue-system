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defRPr sz="1500" b="1" i="0">
                <a:solidFill>
                  <a:srgbClr val="1F3A56"/>
                </a:solidFill>
                <a:latin typeface="Times New Roman"/>
              </a:defRPr>
            </a:pPr>
            <a:r>
              <a:t>NATIONAL TEACHERS COLLEGE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defRPr sz="1100" b="0" i="0">
                <a:solidFill>
                  <a:srgbClr val="646464"/>
                </a:solidFill>
                <a:latin typeface="Times New Roman"/>
              </a:defRPr>
            </a:pPr>
            <a:r>
              <a:t>School of Arts, Sciences and Technology | Department of Computer Studies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1600200"/>
            <a:ext cx="8503920" cy="13716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57400"/>
            <a:ext cx="1014984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defRPr sz="1700" b="1" i="0">
                <a:solidFill>
                  <a:srgbClr val="191919"/>
                </a:solidFill>
                <a:latin typeface="Times New Roman"/>
              </a:defRPr>
            </a:pPr>
            <a:r>
              <a:t>CC105 – DATA STRUCTURES W/LAB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12344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defRPr sz="3000" b="1" i="0">
                <a:solidFill>
                  <a:srgbClr val="1F3A56"/>
                </a:solidFill>
                <a:latin typeface="Times New Roman"/>
              </a:defRPr>
            </a:pPr>
            <a:r>
              <a:t>DYNAMIC DATA ENGINE &amp;</a:t>
            </a:r>
            <a:br/>
            <a:r>
              <a:t>BENCHMARKING 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160520"/>
            <a:ext cx="99669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defRPr sz="1900" b="0" i="0">
                <a:solidFill>
                  <a:srgbClr val="191919"/>
                </a:solidFill>
                <a:latin typeface="Times New Roman"/>
              </a:defRPr>
            </a:pPr>
            <a:r>
              <a:t>University Student Service &amp; Queue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074920"/>
            <a:ext cx="9966960" cy="594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defRPr sz="1300" b="0" i="0">
                <a:solidFill>
                  <a:srgbClr val="646464"/>
                </a:solidFill>
                <a:latin typeface="Times New Roman"/>
              </a:defRPr>
            </a:pPr>
            <a:r>
              <a:t>Terminal Assessment 2 / Milestone 2</a:t>
            </a:r>
            <a:br/>
            <a:r>
              <a:t>Section 2.4 BSIT  |  October 19,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6126480"/>
            <a:ext cx="99669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defRPr sz="1000" b="1" i="0">
                <a:solidFill>
                  <a:srgbClr val="646464"/>
                </a:solidFill>
                <a:latin typeface="Times New Roman"/>
              </a:defRPr>
            </a:pPr>
            <a:r>
              <a:t>GROUP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900" b="1" i="0">
                <a:solidFill>
                  <a:srgbClr val="646464"/>
                </a:solidFill>
                <a:latin typeface="Times New Roman"/>
              </a:defRPr>
            </a:pPr>
            <a:r>
              <a:t>NATIONAL TEACHERS COLLEGE  |  SCHOOL OF ARTS, SCIENCES AND TECHNOLOGY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0927080" cy="10972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7899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2500" b="1" i="0">
                <a:solidFill>
                  <a:srgbClr val="1F3A56"/>
                </a:solidFill>
                <a:latin typeface="Times New Roman"/>
              </a:defRPr>
            </a:pPr>
            <a:r>
              <a:t>01.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106984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200" b="0" i="0">
                <a:solidFill>
                  <a:srgbClr val="646464"/>
                </a:solidFill>
                <a:latin typeface="Times New Roman"/>
              </a:defRPr>
            </a:pPr>
            <a:r>
              <a:t>Problem, intended users, and proposed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800" b="0" i="0">
                <a:solidFill>
                  <a:srgbClr val="646464"/>
                </a:solidFill>
                <a:latin typeface="Times New Roman"/>
              </a:defRPr>
            </a:pPr>
            <a:r>
              <a:t>CC105 – DATA STRUCTURES W/LAB                                      PRESENTATION  | 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1037844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600" b="0" i="0">
                <a:solidFill>
                  <a:srgbClr val="191919"/>
                </a:solidFill>
                <a:latin typeface="Times New Roman"/>
              </a:defRPr>
            </a:pPr>
            <a:r>
              <a:t>•  Universities process assessment, clearance, and transcript requests. Manual record handling can cause disorganized information, slow retrieval, and inefficient queues.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60320"/>
            <a:ext cx="1037844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600" b="0" i="0">
                <a:solidFill>
                  <a:srgbClr val="191919"/>
                </a:solidFill>
                <a:latin typeface="Times New Roman"/>
              </a:defRPr>
            </a:pPr>
            <a:r>
              <a:t>•  Proposed solution: a menu-driven C++ terminal application that manages student records and organizes regular and priority service requests.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83279"/>
            <a:ext cx="1037844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600" b="0" i="0">
                <a:solidFill>
                  <a:srgbClr val="191919"/>
                </a:solidFill>
                <a:latin typeface="Times New Roman"/>
              </a:defRPr>
            </a:pPr>
            <a:r>
              <a:t>•  Intended users: university administrative personnel, student-services staff, and authorized operators.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900" b="1" i="0">
                <a:solidFill>
                  <a:srgbClr val="646464"/>
                </a:solidFill>
                <a:latin typeface="Times New Roman"/>
              </a:defRPr>
            </a:pPr>
            <a:r>
              <a:t>NATIONAL TEACHERS COLLEGE  |  SCHOOL OF ARTS, SCIENCES AND TECHNOLOGY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0927080" cy="10972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7899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2500" b="1" i="0">
                <a:solidFill>
                  <a:srgbClr val="1F3A56"/>
                </a:solidFill>
                <a:latin typeface="Times New Roman"/>
              </a:defRPr>
            </a:pPr>
            <a:r>
              <a:t>02. 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106984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200" b="0" i="0">
                <a:solidFill>
                  <a:srgbClr val="646464"/>
                </a:solidFill>
                <a:latin typeface="Times New Roman"/>
              </a:defRPr>
            </a:pPr>
            <a:r>
              <a:t>General and specific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800" b="0" i="0">
                <a:solidFill>
                  <a:srgbClr val="646464"/>
                </a:solidFill>
                <a:latin typeface="Times New Roman"/>
              </a:defRPr>
            </a:pPr>
            <a:r>
              <a:t>CC105 – DATA STRUCTURES W/LAB                                      PRESENTATION  | 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1037844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600" b="0" i="0">
                <a:solidFill>
                  <a:srgbClr val="191919"/>
                </a:solidFill>
                <a:latin typeface="Times New Roman"/>
              </a:defRPr>
            </a:pPr>
            <a:r>
              <a:t>•  General objective: develop a C++ system demonstrating dynamic data structures, searching and sorting, memory management, and algorithm benchmarking.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60320"/>
            <a:ext cx="1037844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600" b="0" i="0">
                <a:solidFill>
                  <a:srgbClr val="191919"/>
                </a:solidFill>
                <a:latin typeface="Times New Roman"/>
              </a:defRPr>
            </a:pPr>
            <a:r>
              <a:t>•  Implement student-record operations using a dynamically allocated singly linked list.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83279"/>
            <a:ext cx="1037844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600" b="0" i="0">
                <a:solidFill>
                  <a:srgbClr val="191919"/>
                </a:solidFill>
                <a:latin typeface="Times New Roman"/>
              </a:defRPr>
            </a:pPr>
            <a:r>
              <a:t>•  Use a linked-list stack for undo history and linked-list queues for regular and priority service.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206240"/>
            <a:ext cx="1037844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600" b="0" i="0">
                <a:solidFill>
                  <a:srgbClr val="191919"/>
                </a:solidFill>
                <a:latin typeface="Times New Roman"/>
              </a:defRPr>
            </a:pPr>
            <a:r>
              <a:t>•  Compare Linear Search, Binary Search, Bubble Sort, Selection Sort, and Insertion Sort using operation counts and runtime.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900" b="1" i="0">
                <a:solidFill>
                  <a:srgbClr val="646464"/>
                </a:solidFill>
                <a:latin typeface="Times New Roman"/>
              </a:defRPr>
            </a:pPr>
            <a:r>
              <a:t>NATIONAL TEACHERS COLLEGE  |  SCHOOL OF ARTS, SCIENCES AND TECHNOLOGY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0927080" cy="10972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7899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2500" b="1" i="0">
                <a:solidFill>
                  <a:srgbClr val="1F3A56"/>
                </a:solidFill>
                <a:latin typeface="Times New Roman"/>
              </a:defRPr>
            </a:pPr>
            <a:r>
              <a:t>03. MAJOR SYSTEM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106984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200" b="0" i="0">
                <a:solidFill>
                  <a:srgbClr val="646464"/>
                </a:solidFill>
                <a:latin typeface="Times New Roman"/>
              </a:defRPr>
            </a:pPr>
            <a:r>
              <a:t>Requirements and data structures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800" b="0" i="0">
                <a:solidFill>
                  <a:srgbClr val="646464"/>
                </a:solidFill>
                <a:latin typeface="Times New Roman"/>
              </a:defRPr>
            </a:pPr>
            <a:r>
              <a:t>CC105 – DATA STRUCTURES W/LAB                                      PRESENTATION  |  04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600200"/>
          <a:ext cx="1065276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846320"/>
                <a:gridCol w="3429000"/>
              </a:tblGrid>
              <a:tr h="7086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System function</a:t>
                      </a:r>
                    </a:p>
                  </a:txBody>
                  <a:tcPr marL="73152" marR="73152" marT="36576" marB="36576" anchor="ctr">
                    <a:solidFill>
                      <a:srgbClr val="F6F6F6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Description</a:t>
                      </a:r>
                    </a:p>
                  </a:txBody>
                  <a:tcPr marL="73152" marR="73152" marT="36576" marB="36576" anchor="ctr">
                    <a:solidFill>
                      <a:srgbClr val="F6F6F6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Data structure</a:t>
                      </a:r>
                    </a:p>
                  </a:txBody>
                  <a:tcPr marL="73152" marR="73152" marT="36576" marB="36576" anchor="ctr">
                    <a:solidFill>
                      <a:srgbClr val="F6F6F6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Student records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Add, display, search, delete, and update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Singly linked list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Undo / audit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Store deleted records and previous GPA values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Linked-list stack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Service queues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Enqueue, inspect, and serve regular/priority requests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Linked-list queues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Search / sort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Search student IDs and sort records or IDs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Dynamic array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Benchmarking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Count operations and measure execution time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Arrays and metrics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900" b="1" i="0">
                <a:solidFill>
                  <a:srgbClr val="646464"/>
                </a:solidFill>
                <a:latin typeface="Times New Roman"/>
              </a:defRPr>
            </a:pPr>
            <a:r>
              <a:t>NATIONAL TEACHERS COLLEGE  |  SCHOOL OF ARTS, SCIENCES AND TECHNOLOGY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0927080" cy="10972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7899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2500" b="1" i="0">
                <a:solidFill>
                  <a:srgbClr val="1F3A56"/>
                </a:solidFill>
                <a:latin typeface="Times New Roman"/>
              </a:defRPr>
            </a:pPr>
            <a:r>
              <a:t>04. DATA STRUCTURE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106984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200" b="0" i="0">
                <a:solidFill>
                  <a:srgbClr val="646464"/>
                </a:solidFill>
                <a:latin typeface="Times New Roman"/>
              </a:defRPr>
            </a:pPr>
            <a:r>
              <a:t>Structure selection and expected complexity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800" b="0" i="0">
                <a:solidFill>
                  <a:srgbClr val="646464"/>
                </a:solidFill>
                <a:latin typeface="Times New Roman"/>
              </a:defRPr>
            </a:pPr>
            <a:r>
              <a:t>CC105 – DATA STRUCTURES W/LAB                                      PRESENTATION  |  05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600200"/>
          <a:ext cx="1065276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926080"/>
                <a:gridCol w="5440680"/>
              </a:tblGrid>
              <a:tr h="7086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Feature</a:t>
                      </a:r>
                    </a:p>
                  </a:txBody>
                  <a:tcPr marL="73152" marR="73152" marT="36576" marB="36576" anchor="ctr">
                    <a:solidFill>
                      <a:srgbClr val="F6F6F6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Selected structure</a:t>
                      </a:r>
                    </a:p>
                  </a:txBody>
                  <a:tcPr marL="73152" marR="73152" marT="36576" marB="36576" anchor="ctr">
                    <a:solidFill>
                      <a:srgbClr val="F6F6F6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Reason / expected complexity</a:t>
                      </a:r>
                    </a:p>
                  </a:txBody>
                  <a:tcPr marL="73152" marR="73152" marT="36576" marB="36576" anchor="ctr">
                    <a:solidFill>
                      <a:srgbClr val="F6F6F6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Student registry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Singly linked list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Dynamic storage; common operations O(n)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Undo history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Linked-list stack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LIFO; push/pop O(1)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Regular service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Linked-list queue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FIFO; enqueue/dequeue O(1)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Priority service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Sorted linked list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Priority insertion O(n); dequeue O(1)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Search/sort workspace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Dynamic array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Index-based algorithms; sorts generally O(n²)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900" b="1" i="0">
                <a:solidFill>
                  <a:srgbClr val="646464"/>
                </a:solidFill>
                <a:latin typeface="Times New Roman"/>
              </a:defRPr>
            </a:pPr>
            <a:r>
              <a:t>NATIONAL TEACHERS COLLEGE  |  SCHOOL OF ARTS, SCIENCES AND TECHNOLOGY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0927080" cy="10972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7899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2500" b="1" i="0">
                <a:solidFill>
                  <a:srgbClr val="1F3A56"/>
                </a:solidFill>
                <a:latin typeface="Times New Roman"/>
              </a:defRPr>
            </a:pPr>
            <a:r>
              <a:t>05. STUDENT REGISTRY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106984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200" b="0" i="0">
                <a:solidFill>
                  <a:srgbClr val="646464"/>
                </a:solidFill>
                <a:latin typeface="Times New Roman"/>
              </a:defRPr>
            </a:pPr>
            <a:r>
              <a:t>Singly linked list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800" b="0" i="0">
                <a:solidFill>
                  <a:srgbClr val="646464"/>
                </a:solidFill>
                <a:latin typeface="Times New Roman"/>
              </a:defRPr>
            </a:pPr>
            <a:r>
              <a:t>CC105 – DATA STRUCTURES W/LAB                                      PRESENTATION  | 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1037844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600" b="0" i="0">
                <a:solidFill>
                  <a:srgbClr val="191919"/>
                </a:solidFill>
                <a:latin typeface="Times New Roman"/>
              </a:defRPr>
            </a:pPr>
            <a:r>
              <a:t>•  Each node contains a Student value and a Node* next pointer. The head identifies the first node; the final node points to NULL.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60320"/>
            <a:ext cx="1037844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600" b="0" i="0">
                <a:solidFill>
                  <a:srgbClr val="191919"/>
                </a:solidFill>
                <a:latin typeface="Times New Roman"/>
              </a:defRPr>
            </a:pPr>
            <a:r>
              <a:t>•  Operations include add, remove, find, update, display, and count.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83279"/>
            <a:ext cx="1037844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600" b="0" i="0">
                <a:solidFill>
                  <a:srgbClr val="191919"/>
                </a:solidFill>
                <a:latin typeface="Times New Roman"/>
              </a:defRPr>
            </a:pPr>
            <a:r>
              <a:t>•  The worksheet documents O(n) traversal for registry operations; the implementation does not use a tail pointer.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900" b="1" i="0">
                <a:solidFill>
                  <a:srgbClr val="646464"/>
                </a:solidFill>
                <a:latin typeface="Times New Roman"/>
              </a:defRPr>
            </a:pPr>
            <a:r>
              <a:t>NATIONAL TEACHERS COLLEGE  |  SCHOOL OF ARTS, SCIENCES AND TECHNOLOGY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0927080" cy="10972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7899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2500" b="1" i="0">
                <a:solidFill>
                  <a:srgbClr val="1F3A56"/>
                </a:solidFill>
                <a:latin typeface="Times New Roman"/>
              </a:defRPr>
            </a:pPr>
            <a:r>
              <a:t>06. STACK AND QUEUES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106984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200" b="0" i="0">
                <a:solidFill>
                  <a:srgbClr val="646464"/>
                </a:solidFill>
                <a:latin typeface="Times New Roman"/>
              </a:defRPr>
            </a:pPr>
            <a:r>
              <a:t>Undo history and service 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800" b="0" i="0">
                <a:solidFill>
                  <a:srgbClr val="646464"/>
                </a:solidFill>
                <a:latin typeface="Times New Roman"/>
              </a:defRPr>
            </a:pPr>
            <a:r>
              <a:t>CC105 – DATA STRUCTURES W/LAB                                      PRESENTATION  | 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1037844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600" b="0" i="0">
                <a:solidFill>
                  <a:srgbClr val="191919"/>
                </a:solidFill>
                <a:latin typeface="Times New Roman"/>
              </a:defRPr>
            </a:pPr>
            <a:r>
              <a:t>•  Undo stack follows LIFO: the newest action is handled first. Push and pop are O(1); displaying history is O(n).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60320"/>
            <a:ext cx="1037844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600" b="0" i="0">
                <a:solidFill>
                  <a:srgbClr val="191919"/>
                </a:solidFill>
                <a:latin typeface="Times New Roman"/>
              </a:defRPr>
            </a:pPr>
            <a:r>
              <a:t>•  Regular service queue follows FIFO. Enqueue, dequeue, and peek are O(1); display is O(n).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83279"/>
            <a:ext cx="1037844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600" b="0" i="0">
                <a:solidFill>
                  <a:srgbClr val="191919"/>
                </a:solidFill>
                <a:latin typeface="Times New Roman"/>
              </a:defRPr>
            </a:pPr>
            <a:r>
              <a:t>•  Priority queue inserts according to priority in O(n), while dequeue and peek are O(1). Equal-priority students retain arrival order.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900" b="1" i="0">
                <a:solidFill>
                  <a:srgbClr val="646464"/>
                </a:solidFill>
                <a:latin typeface="Times New Roman"/>
              </a:defRPr>
            </a:pPr>
            <a:r>
              <a:t>NATIONAL TEACHERS COLLEGE  |  SCHOOL OF ARTS, SCIENCES AND TECHNOLOGY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0927080" cy="10972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7899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2500" b="1" i="0">
                <a:solidFill>
                  <a:srgbClr val="1F3A56"/>
                </a:solidFill>
                <a:latin typeface="Times New Roman"/>
              </a:defRPr>
            </a:pPr>
            <a:r>
              <a:t>07. SEARCHING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106984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200" b="0" i="0">
                <a:solidFill>
                  <a:srgbClr val="646464"/>
                </a:solidFill>
                <a:latin typeface="Times New Roman"/>
              </a:defRPr>
            </a:pPr>
            <a:r>
              <a:t>Linear Search and Binary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800" b="0" i="0">
                <a:solidFill>
                  <a:srgbClr val="646464"/>
                </a:solidFill>
                <a:latin typeface="Times New Roman"/>
              </a:defRPr>
            </a:pPr>
            <a:r>
              <a:t>CC105 – DATA STRUCTURES W/LAB                                      PRESENTATION  |  08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691640"/>
          <a:ext cx="1065276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657600"/>
                <a:gridCol w="3794760"/>
              </a:tblGrid>
              <a:tr h="5943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Criteria</a:t>
                      </a:r>
                    </a:p>
                  </a:txBody>
                  <a:tcPr marL="73152" marR="73152" marT="36576" marB="36576" anchor="ctr">
                    <a:solidFill>
                      <a:srgbClr val="F6F6F6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Linear Search</a:t>
                      </a:r>
                    </a:p>
                  </a:txBody>
                  <a:tcPr marL="73152" marR="73152" marT="36576" marB="36576" anchor="ctr">
                    <a:solidFill>
                      <a:srgbClr val="F6F6F6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Binary Search</a:t>
                      </a:r>
                    </a:p>
                  </a:txBody>
                  <a:tcPr marL="73152" marR="73152" marT="36576" marB="36576" anchor="ctr">
                    <a:solidFill>
                      <a:srgbClr val="F6F6F6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Best case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O(1)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O(1)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Average case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O(n)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O(log n)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Worst case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O(n)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O(log n)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Sorted data required?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Yes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Worksheet note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May inspect records one by one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Halves search interval each step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5486400"/>
            <a:ext cx="1024128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400" b="0" i="1">
                <a:solidFill>
                  <a:srgbClr val="191919"/>
                </a:solidFill>
                <a:latin typeface="Times New Roman"/>
              </a:defRPr>
            </a:pPr>
            <a:r>
              <a:t>Binary Search requires sorted data to correctly choose which half to continue searching.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900" b="1" i="0">
                <a:solidFill>
                  <a:srgbClr val="646464"/>
                </a:solidFill>
                <a:latin typeface="Times New Roman"/>
              </a:defRPr>
            </a:pPr>
            <a:r>
              <a:t>NATIONAL TEACHERS COLLEGE  |  SCHOOL OF ARTS, SCIENCES AND TECHNOLOGY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0927080" cy="10972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7899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2500" b="1" i="0">
                <a:solidFill>
                  <a:srgbClr val="1F3A56"/>
                </a:solidFill>
                <a:latin typeface="Times New Roman"/>
              </a:defRPr>
            </a:pPr>
            <a:r>
              <a:t>08. SORTING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106984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200" b="0" i="0">
                <a:solidFill>
                  <a:srgbClr val="646464"/>
                </a:solidFill>
                <a:latin typeface="Times New Roman"/>
              </a:defRPr>
            </a:pPr>
            <a:r>
              <a:t>Bubble Sort, Selection Sort, and Insertion Sort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800" b="0" i="0">
                <a:solidFill>
                  <a:srgbClr val="646464"/>
                </a:solidFill>
                <a:latin typeface="Times New Roman"/>
              </a:defRPr>
            </a:pPr>
            <a:r>
              <a:t>CC105 – DATA STRUCTURES W/LAB                                      PRESENTATION  | 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1037844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600" b="0" i="0">
                <a:solidFill>
                  <a:srgbClr val="191919"/>
                </a:solidFill>
                <a:latin typeface="Times New Roman"/>
              </a:defRPr>
            </a:pPr>
            <a:r>
              <a:t>•  Bubble Sort compares neighboring elements and swaps out-of-order values.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60320"/>
            <a:ext cx="1037844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600" b="0" i="0">
                <a:solidFill>
                  <a:srgbClr val="191919"/>
                </a:solidFill>
                <a:latin typeface="Times New Roman"/>
              </a:defRPr>
            </a:pPr>
            <a:r>
              <a:t>•  Selection Sort locates the next minimum element and places it in position.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83279"/>
            <a:ext cx="1037844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600" b="0" i="0">
                <a:solidFill>
                  <a:srgbClr val="191919"/>
                </a:solidFill>
                <a:latin typeface="Times New Roman"/>
              </a:defRPr>
            </a:pPr>
            <a:r>
              <a:t>•  Insertion Sort shifts larger preceding values and inserts the current key.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206240"/>
            <a:ext cx="1037844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600" b="0" i="0">
                <a:solidFill>
                  <a:srgbClr val="191919"/>
                </a:solidFill>
                <a:latin typeface="Times New Roman"/>
              </a:defRPr>
            </a:pPr>
            <a:r>
              <a:t>•  The worksheet lists O(n²) worst-case complexity for all three sorting algorithms.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900" b="1" i="0">
                <a:solidFill>
                  <a:srgbClr val="646464"/>
                </a:solidFill>
                <a:latin typeface="Times New Roman"/>
              </a:defRPr>
            </a:pPr>
            <a:r>
              <a:t>NATIONAL TEACHERS COLLEGE  |  SCHOOL OF ARTS, SCIENCES AND TECHNOLOGY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0927080" cy="10972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7899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2500" b="1" i="0">
                <a:solidFill>
                  <a:srgbClr val="1F3A56"/>
                </a:solidFill>
                <a:latin typeface="Times New Roman"/>
              </a:defRPr>
            </a:pPr>
            <a:r>
              <a:t>09. BENCHMARK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106984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200" b="0" i="0">
                <a:solidFill>
                  <a:srgbClr val="646464"/>
                </a:solidFill>
                <a:latin typeface="Times New Roman"/>
              </a:defRPr>
            </a:pPr>
            <a:r>
              <a:t>Recorded worksheet metrics for N = 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800" b="0" i="0">
                <a:solidFill>
                  <a:srgbClr val="646464"/>
                </a:solidFill>
                <a:latin typeface="Times New Roman"/>
              </a:defRPr>
            </a:pPr>
            <a:r>
              <a:t>CC105 – DATA STRUCTURES W/LAB                                      PRESENTATION  |  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691640"/>
          <a:ext cx="1065276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2286000"/>
                <a:gridCol w="2468880"/>
                <a:gridCol w="2423160"/>
              </a:tblGrid>
              <a:tr h="5943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Algorithm (N=100)</a:t>
                      </a:r>
                    </a:p>
                  </a:txBody>
                  <a:tcPr marL="73152" marR="73152" marT="36576" marB="36576" anchor="ctr">
                    <a:solidFill>
                      <a:srgbClr val="F6F6F6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Comparisons</a:t>
                      </a:r>
                    </a:p>
                  </a:txBody>
                  <a:tcPr marL="73152" marR="73152" marT="36576" marB="36576" anchor="ctr">
                    <a:solidFill>
                      <a:srgbClr val="F6F6F6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Swaps / shifts</a:t>
                      </a:r>
                    </a:p>
                  </a:txBody>
                  <a:tcPr marL="73152" marR="73152" marT="36576" marB="36576" anchor="ctr">
                    <a:solidFill>
                      <a:srgbClr val="F6F6F6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Recorded time</a:t>
                      </a:r>
                    </a:p>
                  </a:txBody>
                  <a:tcPr marL="73152" marR="73152" marT="36576" marB="36576" anchor="ctr">
                    <a:solidFill>
                      <a:srgbClr val="F6F6F6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Linear Search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100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0.000 ms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Binary Search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11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0.000 ms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Bubble Sort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4,859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2,538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0.000 ms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Selection Sort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4,950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97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0.000 ms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Insertion Sort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2,630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2,538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0.000 ms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5486400"/>
            <a:ext cx="10241280" cy="5486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300" b="1" i="0">
                <a:solidFill>
                  <a:srgbClr val="191919"/>
                </a:solidFill>
                <a:latin typeface="Times New Roman"/>
              </a:defRPr>
            </a:pPr>
            <a:r>
              <a:t>Note: The worksheet's 0.000 ms readings do not support a reliable fastest-to-slowest ranking.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900" b="1" i="0">
                <a:solidFill>
                  <a:srgbClr val="646464"/>
                </a:solidFill>
                <a:latin typeface="Times New Roman"/>
              </a:defRPr>
            </a:pPr>
            <a:r>
              <a:t>NATIONAL TEACHERS COLLEGE  |  SCHOOL OF ARTS, SCIENCES AND TECHNOLOGY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0927080" cy="10972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7899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2500" b="1" i="0">
                <a:solidFill>
                  <a:srgbClr val="1F3A56"/>
                </a:solidFill>
                <a:latin typeface="Times New Roman"/>
              </a:defRPr>
            </a:pPr>
            <a:r>
              <a:t>10. EMPIRICAL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106984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200" b="0" i="0">
                <a:solidFill>
                  <a:srgbClr val="646464"/>
                </a:solidFill>
                <a:latin typeface="Times New Roman"/>
              </a:defRPr>
            </a:pPr>
            <a:r>
              <a:t>Interpreting the recorded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800" b="0" i="0">
                <a:solidFill>
                  <a:srgbClr val="646464"/>
                </a:solidFill>
                <a:latin typeface="Times New Roman"/>
              </a:defRPr>
            </a:pPr>
            <a:r>
              <a:t>CC105 – DATA STRUCTURES W/LAB                                      PRESENTATION  |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1037844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600" b="0" i="0">
                <a:solidFill>
                  <a:srgbClr val="191919"/>
                </a:solidFill>
                <a:latin typeface="Times New Roman"/>
              </a:defRPr>
            </a:pPr>
            <a:r>
              <a:t>•  The worksheet reports execution times of 0.000 ms, which are too coarse to reliably determine the fastest algorithm.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60320"/>
            <a:ext cx="1037844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600" b="0" i="0">
                <a:solidFill>
                  <a:srgbClr val="191919"/>
                </a:solidFill>
                <a:latin typeface="Times New Roman"/>
              </a:defRPr>
            </a:pPr>
            <a:r>
              <a:t>•  Operation counts provide a useful comparison, but measurements depend on dataset size, input arrangement, hardware, compiler settings, and timing precision.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83279"/>
            <a:ext cx="1037844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600" b="0" i="0">
                <a:solidFill>
                  <a:srgbClr val="191919"/>
                </a:solidFill>
                <a:latin typeface="Times New Roman"/>
              </a:defRPr>
            </a:pPr>
            <a:r>
              <a:t>•  Binary Search is expected to reduce the search interval by half, provided the data is sorted.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900" b="1" i="0">
                <a:solidFill>
                  <a:srgbClr val="646464"/>
                </a:solidFill>
                <a:latin typeface="Times New Roman"/>
              </a:defRPr>
            </a:pPr>
            <a:r>
              <a:t>NATIONAL TEACHERS COLLEGE  |  SCHOOL OF ARTS, SCIENCES AND TECHNOLOGY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0927080" cy="10972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7899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2500" b="1" i="0">
                <a:solidFill>
                  <a:srgbClr val="1F3A56"/>
                </a:solidFill>
                <a:latin typeface="Times New Roman"/>
              </a:defRPr>
            </a:pPr>
            <a:r>
              <a:t>11. DYNAMIC MEMORY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106984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200" b="0" i="0">
                <a:solidFill>
                  <a:srgbClr val="646464"/>
                </a:solidFill>
                <a:latin typeface="Times New Roman"/>
              </a:defRPr>
            </a:pPr>
            <a:r>
              <a:t>Allocation, deallocation, and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800" b="0" i="0">
                <a:solidFill>
                  <a:srgbClr val="646464"/>
                </a:solidFill>
                <a:latin typeface="Times New Roman"/>
              </a:defRPr>
            </a:pPr>
            <a:r>
              <a:t>CC105 – DATA STRUCTURES W/LAB                                      PRESENTATION  |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1037844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600" b="0" i="0">
                <a:solidFill>
                  <a:srgbClr val="191919"/>
                </a:solidFill>
                <a:latin typeface="Times New Roman"/>
              </a:defRPr>
            </a:pPr>
            <a:r>
              <a:t>•  Linked-list nodes and dynamic arrays are allocated with new / new[].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60320"/>
            <a:ext cx="1037844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600" b="0" i="0">
                <a:solidFill>
                  <a:srgbClr val="191919"/>
                </a:solidFill>
                <a:latin typeface="Times New Roman"/>
              </a:defRPr>
            </a:pPr>
            <a:r>
              <a:t>•  Removed nodes are released with delete; arrays are released with delete[].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83279"/>
            <a:ext cx="1037844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600" b="0" i="0">
                <a:solidFill>
                  <a:srgbClr val="191919"/>
                </a:solidFill>
                <a:latin typeface="Times New Roman"/>
              </a:defRPr>
            </a:pPr>
            <a:r>
              <a:t>•  Registry, stack, and queue cleanup routines/destructors are documented. Runtime leak checking is still needed to verify leak-free execution.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900" b="1" i="0">
                <a:solidFill>
                  <a:srgbClr val="646464"/>
                </a:solidFill>
                <a:latin typeface="Times New Roman"/>
              </a:defRPr>
            </a:pPr>
            <a:r>
              <a:t>NATIONAL TEACHERS COLLEGE  |  SCHOOL OF ARTS, SCIENCES AND TECHNOLOGY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0927080" cy="10972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7899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2500" b="1" i="0">
                <a:solidFill>
                  <a:srgbClr val="1F3A56"/>
                </a:solidFill>
                <a:latin typeface="Times New Roman"/>
              </a:defRPr>
            </a:pPr>
            <a:r>
              <a:t>12. TESTING AND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106984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200" b="0" i="0">
                <a:solidFill>
                  <a:srgbClr val="646464"/>
                </a:solidFill>
                <a:latin typeface="Times New Roman"/>
              </a:defRPr>
            </a:pPr>
            <a:r>
              <a:t>Selected worksheet test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800" b="0" i="0">
                <a:solidFill>
                  <a:srgbClr val="646464"/>
                </a:solidFill>
                <a:latin typeface="Times New Roman"/>
              </a:defRPr>
            </a:pPr>
            <a:r>
              <a:t>CC105 – DATA STRUCTURES W/LAB                                      PRESENTATION  |  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645920"/>
          <a:ext cx="1065276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080760"/>
              </a:tblGrid>
              <a:tr h="56823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Test area</a:t>
                      </a:r>
                    </a:p>
                  </a:txBody>
                  <a:tcPr marL="73152" marR="73152" marT="36576" marB="36576" anchor="ctr">
                    <a:solidFill>
                      <a:srgbClr val="F6F6F6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Worksheet outcome</a:t>
                      </a:r>
                    </a:p>
                  </a:txBody>
                  <a:tcPr marL="73152" marR="73152" marT="36576" marB="36576" anchor="ctr">
                    <a:solidFill>
                      <a:srgbClr val="F6F6F6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Valid / invalid input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Pass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Empty undo and queue conditions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Pass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Single and multiple student records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Pass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Existing and missing student search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Pass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Record deletion and sorting demo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Pass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</a:tr>
              <a:tr h="568235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Boundary conditions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Pass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5806440"/>
            <a:ext cx="1024128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000" b="0" i="1">
                <a:solidFill>
                  <a:srgbClr val="646464"/>
                </a:solidFill>
                <a:latin typeface="Times New Roman"/>
              </a:defRPr>
            </a:pPr>
            <a:r>
              <a:t>Outcomes are transcribed from the supplied worksheet test log.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900" b="1" i="0">
                <a:solidFill>
                  <a:srgbClr val="646464"/>
                </a:solidFill>
                <a:latin typeface="Times New Roman"/>
              </a:defRPr>
            </a:pPr>
            <a:r>
              <a:t>NATIONAL TEACHERS COLLEGE  |  SCHOOL OF ARTS, SCIENCES AND TECHNOLOGY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0927080" cy="10972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7899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2500" b="1" i="0">
                <a:solidFill>
                  <a:srgbClr val="1F3A56"/>
                </a:solidFill>
                <a:latin typeface="Times New Roman"/>
              </a:defRPr>
            </a:pPr>
            <a:r>
              <a:t>13. BUGS AND DEBUGGING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106984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200" b="0" i="0">
                <a:solidFill>
                  <a:srgbClr val="646464"/>
                </a:solidFill>
                <a:latin typeface="Times New Roman"/>
              </a:defRPr>
            </a:pPr>
            <a:r>
              <a:t>Integration issues recorded in the worksheet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800" b="0" i="0">
                <a:solidFill>
                  <a:srgbClr val="646464"/>
                </a:solidFill>
                <a:latin typeface="Times New Roman"/>
              </a:defRPr>
            </a:pPr>
            <a:r>
              <a:t>CC105 – DATA STRUCTURES W/LAB                                      PRESENTATION  |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1037844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600" b="0" i="0">
                <a:solidFill>
                  <a:srgbClr val="191919"/>
                </a:solidFill>
                <a:latin typeface="Times New Roman"/>
              </a:defRPr>
            </a:pPr>
            <a:r>
              <a:t>•  Queue entries may remain after a student is deleted from the registry.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60320"/>
            <a:ext cx="1037844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600" b="0" i="0">
                <a:solidFill>
                  <a:srgbClr val="191919"/>
                </a:solidFill>
                <a:latin typeface="Times New Roman"/>
              </a:defRPr>
            </a:pPr>
            <a:r>
              <a:t>•  Undo may restore a registry record without restoring its queue entry; queue data may also retain outdated GPA values.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83279"/>
            <a:ext cx="1037844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600" b="0" i="0">
                <a:solidFill>
                  <a:srgbClr val="191919"/>
                </a:solidFill>
                <a:latin typeface="Times New Roman"/>
              </a:defRPr>
            </a:pPr>
            <a:r>
              <a:t>•  Input validation should reject whitespace-only names and handle end-of-file cleanly.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206240"/>
            <a:ext cx="1037844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600" b="0" i="0">
                <a:solidFill>
                  <a:srgbClr val="191919"/>
                </a:solidFill>
                <a:latin typeface="Times New Roman"/>
              </a:defRPr>
            </a:pPr>
            <a:r>
              <a:t>•  The worksheet records fixes, but integration behavior should continue to be verified during demonstration.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900" b="1" i="0">
                <a:solidFill>
                  <a:srgbClr val="646464"/>
                </a:solidFill>
                <a:latin typeface="Times New Roman"/>
              </a:defRPr>
            </a:pPr>
            <a:r>
              <a:t>NATIONAL TEACHERS COLLEGE  |  SCHOOL OF ARTS, SCIENCES AND TECHNOLOGY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0927080" cy="10972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7899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2500" b="1" i="0">
                <a:solidFill>
                  <a:srgbClr val="1F3A56"/>
                </a:solidFill>
                <a:latin typeface="Times New Roman"/>
              </a:defRPr>
            </a:pPr>
            <a:r>
              <a:t>14. TEAM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106984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200" b="0" i="0">
                <a:solidFill>
                  <a:srgbClr val="646464"/>
                </a:solidFill>
                <a:latin typeface="Times New Roman"/>
              </a:defRPr>
            </a:pPr>
            <a:r>
              <a:t>Assigned modules and reported contribution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800" b="0" i="0">
                <a:solidFill>
                  <a:srgbClr val="646464"/>
                </a:solidFill>
                <a:latin typeface="Times New Roman"/>
              </a:defRPr>
            </a:pPr>
            <a:r>
              <a:t>CC105 – DATA STRUCTURES W/LAB                                      PRESENTATION  |  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645920"/>
          <a:ext cx="1065276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5486400"/>
                <a:gridCol w="1965960"/>
              </a:tblGrid>
              <a:tr h="56823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Group member</a:t>
                      </a:r>
                    </a:p>
                  </a:txBody>
                  <a:tcPr marL="73152" marR="73152" marT="36576" marB="36576" anchor="ctr">
                    <a:solidFill>
                      <a:srgbClr val="F6F6F6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Assigned responsibility</a:t>
                      </a:r>
                    </a:p>
                  </a:txBody>
                  <a:tcPr marL="73152" marR="73152" marT="36576" marB="36576" anchor="ctr">
                    <a:solidFill>
                      <a:srgbClr val="F6F6F6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Contribution</a:t>
                      </a:r>
                    </a:p>
                  </a:txBody>
                  <a:tcPr marL="73152" marR="73152" marT="36576" marB="36576" anchor="ctr">
                    <a:solidFill>
                      <a:srgbClr val="F6F6F6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Lovely Esther Ang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Linked-list student registry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20%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Jinea Elgin Benjamin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Searching, sorting, instrumentation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20%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Angeline Francisco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Stack, queue, priority queue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20%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Brittanny Octaviano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CLI and performance analysis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20%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Don Gabriel Poblete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Benchmarking suite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20%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</a:tr>
              <a:tr h="568235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Total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100%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9000">
                      <a:solidFill>
                        <a:srgbClr val="B0B0B0"/>
                      </a:solidFill>
                    </a:lnL>
                    <a:lnR w="9000">
                      <a:solidFill>
                        <a:srgbClr val="B0B0B0"/>
                      </a:solidFill>
                    </a:lnR>
                    <a:lnT w="9000">
                      <a:solidFill>
                        <a:srgbClr val="B0B0B0"/>
                      </a:solidFill>
                    </a:lnT>
                    <a:lnB w="9000">
                      <a:solidFill>
                        <a:srgbClr val="B0B0B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900" b="1" i="0">
                <a:solidFill>
                  <a:srgbClr val="646464"/>
                </a:solidFill>
                <a:latin typeface="Times New Roman"/>
              </a:defRPr>
            </a:pPr>
            <a:r>
              <a:t>NATIONAL TEACHERS COLLEGE  |  SCHOOL OF ARTS, SCIENCES AND TECHNOLOGY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0927080" cy="10972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7899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2500" b="1" i="0">
                <a:solidFill>
                  <a:srgbClr val="1F3A56"/>
                </a:solidFill>
                <a:latin typeface="Times New Roman"/>
              </a:defRPr>
            </a:pPr>
            <a:r>
              <a:t>15. LIMITATIONS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106984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200" b="0" i="0">
                <a:solidFill>
                  <a:srgbClr val="646464"/>
                </a:solidFill>
                <a:latin typeface="Times New Roman"/>
              </a:defRPr>
            </a:pPr>
            <a:r>
              <a:t>Proposed improvements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800" b="0" i="0">
                <a:solidFill>
                  <a:srgbClr val="646464"/>
                </a:solidFill>
                <a:latin typeface="Times New Roman"/>
              </a:defRPr>
            </a:pPr>
            <a:r>
              <a:t>CC105 – DATA STRUCTURES W/LAB                                      PRESENTATION  |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1037844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600" b="0" i="0">
                <a:solidFill>
                  <a:srgbClr val="191919"/>
                </a:solidFill>
                <a:latin typeface="Times New Roman"/>
              </a:defRPr>
            </a:pPr>
            <a:r>
              <a:t>•  Strengthen synchronization among the registry, undo history, and service queues.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60320"/>
            <a:ext cx="1037844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600" b="0" i="0">
                <a:solidFill>
                  <a:srgbClr val="191919"/>
                </a:solidFill>
                <a:latin typeface="Times New Roman"/>
              </a:defRPr>
            </a:pPr>
            <a:r>
              <a:t>•  Improve benchmark timing precision and test larger datasets and different input arrangements.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83279"/>
            <a:ext cx="1037844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600" b="0" i="0">
                <a:solidFill>
                  <a:srgbClr val="191919"/>
                </a:solidFill>
                <a:latin typeface="Times New Roman"/>
              </a:defRPr>
            </a:pPr>
            <a:r>
              <a:t>•  Expand input validation, run memory-leak checks, and continue edge-case testing.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206240"/>
            <a:ext cx="1037844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600" b="0" i="0">
                <a:solidFill>
                  <a:srgbClr val="191919"/>
                </a:solidFill>
                <a:latin typeface="Times New Roman"/>
              </a:defRPr>
            </a:pPr>
            <a:r>
              <a:t>•  Improve the menu interface and verify all modules together before the practical defense.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900" b="1" i="0">
                <a:solidFill>
                  <a:srgbClr val="646464"/>
                </a:solidFill>
                <a:latin typeface="Times New Roman"/>
              </a:defRPr>
            </a:pPr>
            <a:r>
              <a:t>NATIONAL TEACHERS COLLEGE  |  SCHOOL OF ARTS, SCIENCES AND TECHNOLOGY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0927080" cy="10972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7899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2500" b="1" i="0">
                <a:solidFill>
                  <a:srgbClr val="1F3A56"/>
                </a:solidFill>
                <a:latin typeface="Times New Roman"/>
              </a:defRPr>
            </a:pPr>
            <a:r>
              <a:t>16.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106984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200" b="0" i="0">
                <a:solidFill>
                  <a:srgbClr val="646464"/>
                </a:solidFill>
                <a:latin typeface="Times New Roman"/>
              </a:defRPr>
            </a:pPr>
            <a:r>
              <a:t>Project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800" b="0" i="0">
                <a:solidFill>
                  <a:srgbClr val="646464"/>
                </a:solidFill>
                <a:latin typeface="Times New Roman"/>
              </a:defRPr>
            </a:pPr>
            <a:r>
              <a:t>CC105 – DATA STRUCTURES W/LAB                                      PRESENTATION  |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1037844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600" b="0" i="0">
                <a:solidFill>
                  <a:srgbClr val="191919"/>
                </a:solidFill>
                <a:latin typeface="Times New Roman"/>
              </a:defRPr>
            </a:pPr>
            <a:r>
              <a:t>•  The system applies dynamic data structures and fundamental algorithms to a university student-service workflow.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60320"/>
            <a:ext cx="1037844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600" b="0" i="0">
                <a:solidFill>
                  <a:srgbClr val="191919"/>
                </a:solidFill>
                <a:latin typeface="Times New Roman"/>
              </a:defRPr>
            </a:pPr>
            <a:r>
              <a:t>•  The worksheet documents implemented features and test cases, while also identifying performance-measurement and data-synchronization areas that need further verification.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715000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000" b="0" i="1">
                <a:solidFill>
                  <a:srgbClr val="646464"/>
                </a:solidFill>
                <a:latin typeface="Times New Roman"/>
              </a:defRPr>
            </a:pPr>
            <a:r>
              <a:t>Source: CC105 Terminal Assessment 2 / Milestone 2 Student Worksheet (provided).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